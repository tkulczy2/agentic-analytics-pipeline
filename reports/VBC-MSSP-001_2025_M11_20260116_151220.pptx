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MSSP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VBC-MSSP-001 | 2025 M11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Generated: January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743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Total Savings</a:t>
            </a:r>
          </a:p>
          <a:p>
            <a:pPr algn="ctr">
              <a:defRPr sz="2800" b="1">
                <a:solidFill>
                  <a:srgbClr val="28A745"/>
                </a:solidFill>
              </a:defRPr>
            </a:pPr>
            <a:r>
              <a:t>$51,961,980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72.2% below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7432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Quality Score</a:t>
            </a:r>
          </a:p>
          <a:p>
            <a:pPr algn="ctr">
              <a:defRPr sz="2800" b="1">
                <a:solidFill>
                  <a:srgbClr val="FFC107"/>
                </a:solidFill>
              </a:defRPr>
            </a:pPr>
            <a:r>
              <a:t>0.0%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Gate: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743200" cy="137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Projected Payment</a:t>
            </a:r>
          </a:p>
          <a:p>
            <a:pPr algn="ctr">
              <a:defRPr sz="2800" b="1">
                <a:solidFill>
                  <a:srgbClr val="3498DB"/>
                </a:solidFill>
              </a:defRPr>
            </a:pPr>
            <a:r>
              <a:t>$25,897,498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100%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743200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Members</a:t>
            </a:r>
          </a:p>
          <a:p>
            <a:pPr algn="ctr">
              <a:defRPr sz="2800" b="1">
                <a:solidFill>
                  <a:srgbClr val="2C3E50"/>
                </a:solidFill>
              </a:defRPr>
            </a:pPr>
            <a:r>
              <a:t>7,779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85,569 member-months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Key Findings: 1 risks identified, 1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1828800" cy="3657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$72.0M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011680"/>
            <a:ext cx="1828800" cy="3474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$68.4M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468468"/>
            <a:ext cx="1828800" cy="1017931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10270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$20.0M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/>
            </a:pPr>
            <a:r>
              <a:t>PMPM Metrics</a:t>
            </a:r>
          </a:p>
          <a:p>
            <a:pPr>
              <a:defRPr sz="1400"/>
            </a:pPr>
            <a:r>
              <a:t>Baseline PMPM: $771</a:t>
            </a:r>
          </a:p>
          <a:p>
            <a:pPr>
              <a:defRPr sz="1400"/>
            </a:pPr>
            <a:r>
              <a:t>Target PMPM: $733</a:t>
            </a:r>
          </a:p>
          <a:p>
            <a:pPr>
              <a:defRPr sz="1400"/>
            </a:pPr>
            <a:r>
              <a:t>Actual PMPM: $234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ER Visits/1000: 319</a:t>
            </a:r>
          </a:p>
          <a:p>
            <a:pPr>
              <a:defRPr sz="1400"/>
            </a:pPr>
            <a:r>
              <a:t>Admits/1000: 119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Quality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C3545"/>
                </a:solidFill>
              </a:defRPr>
            </a:pPr>
            <a:r>
              <a:t>0.0%</a:t>
            </a:r>
          </a:p>
          <a:p>
            <a:pPr>
              <a:defRPr sz="1600"/>
            </a:pPr>
            <a:r>
              <a:t>Composite Score (Threshold: 80.0%)</a:t>
            </a:r>
          </a:p>
          <a:p>
            <a:pPr>
              <a:defRPr sz="1800" b="1"/>
            </a:pPr>
            <a:r>
              <a:t>Quality Gate: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Preventive Care (1.0x)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Chronic Disease (2.0x)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92608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749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Care Coordination (1.5x)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02336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4023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Patient Experience (1.0x)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12064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5120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Stratification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Low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2,619 members (33.7%)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3657600" cy="1371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Medium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3,560 members (45.8%)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$229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3657600" cy="1371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High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1,600 members (20.6%)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$202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Average Risk Score</a:t>
            </a:r>
          </a:p>
          <a:p>
            <a:pPr>
              <a:defRPr sz="4800" b="1">
                <a:solidFill>
                  <a:srgbClr val="2C3E50"/>
                </a:solidFill>
              </a:defRPr>
            </a:pPr>
            <a:r>
              <a:t>1.12</a:t>
            </a:r>
          </a:p>
          <a:p>
            <a:pPr>
              <a:defRPr sz="1400"/>
            </a:pPr>
            <a:r>
              <a:t>(1.0 = Medicare average)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4864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Quality Gate at Risk</a:t>
            </a:r>
          </a:p>
          <a:p>
            <a:pPr>
              <a:defRPr sz="1200"/>
            </a:pPr>
            <a:r>
              <a:t>Composite score of 0.0% below 80% threshold</a:t>
            </a:r>
          </a:p>
          <a:p>
            <a:pPr>
              <a:defRPr sz="1100" i="1"/>
            </a:pPr>
            <a:r>
              <a:t>Recommendation: Focus on chronic disease and care coordination measures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4864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828800"/>
            <a:ext cx="274320" cy="2743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Strong Savings Performance</a:t>
            </a:r>
          </a:p>
          <a:p>
            <a:pPr>
              <a:defRPr sz="1200"/>
            </a:pPr>
            <a:r>
              <a:t>Tracking 72.2% below baseline</a:t>
            </a:r>
          </a:p>
          <a:p>
            <a:pPr>
              <a:defRPr sz="1100" i="1"/>
            </a:pPr>
            <a:r>
              <a:t>Recommendation: Maintain current care management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Year-End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Projected Year-End Results</a:t>
            </a:r>
          </a:p>
          <a:p>
            <a:pPr>
              <a:defRPr sz="1400"/>
            </a:pPr>
            <a:r>
              <a:t>Projected Savings: $51,794,996</a:t>
            </a:r>
          </a:p>
          <a:p>
            <a:pPr>
              <a:defRPr sz="1400"/>
            </a:pPr>
            <a:r>
              <a:t>Projected Shared Savings: $25,897,498</a:t>
            </a:r>
          </a:p>
          <a:p>
            <a:pPr>
              <a:defRPr sz="1400"/>
            </a:pPr>
            <a:r>
              <a:t>Probability of Achieving Target: 100%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Savings Range (95% CI):</a:t>
            </a:r>
          </a:p>
          <a:p>
            <a:pPr>
              <a:defRPr sz="1400"/>
            </a:pPr>
            <a:r>
              <a:t>  Lower: $37,682,996</a:t>
            </a:r>
          </a:p>
          <a:p>
            <a:pPr>
              <a:defRPr sz="1400"/>
            </a:pPr>
            <a:r>
              <a:t>  Upper: $65,906,996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Recommended Actions</a:t>
            </a:r>
          </a:p>
          <a:p>
            <a:pPr>
              <a:defRPr sz="1400"/>
            </a:pPr>
            <a:r>
              <a:t>1. Focus on chronic disease and care coordination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