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MSSP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3498DB"/>
                </a:solidFill>
              </a:defRPr>
            </a:pPr>
            <a:r>
              <a:t>VBC-MSSP-001 | 2026 M01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8C8C8"/>
                </a:solidFill>
              </a:defRPr>
            </a:pPr>
            <a:r>
              <a:t>Generated: January 15,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Executive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2743200" cy="1828800"/>
          </a:xfrm>
          <a:prstGeom prst="roundRect">
            <a:avLst/>
          </a:prstGeom>
          <a:solidFill>
            <a:srgbClr val="F8F9FA"/>
          </a:solidFill>
          <a:ln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2743200" cy="13716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212529"/>
                </a:solidFill>
              </a:defRPr>
            </a:pPr>
            <a:r>
              <a:t>Total Savings</a:t>
            </a:r>
          </a:p>
          <a:p>
            <a:pPr algn="ctr">
              <a:defRPr sz="2800" b="1">
                <a:solidFill>
                  <a:srgbClr val="28A745"/>
                </a:solidFill>
              </a:defRPr>
            </a:pPr>
            <a:r>
              <a:t>$67,816,135</a:t>
            </a:r>
          </a:p>
          <a:p>
            <a:pPr algn="ctr">
              <a:defRPr sz="1000">
                <a:solidFill>
                  <a:srgbClr val="212529"/>
                </a:solidFill>
              </a:defRPr>
            </a:pPr>
            <a:r>
              <a:t>94.2% below baseline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645920"/>
            <a:ext cx="2743200" cy="1828800"/>
          </a:xfrm>
          <a:prstGeom prst="roundRect">
            <a:avLst/>
          </a:prstGeom>
          <a:solidFill>
            <a:srgbClr val="F8F9FA"/>
          </a:solidFill>
          <a:ln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383280" y="1645920"/>
            <a:ext cx="2743200" cy="13716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192024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212529"/>
                </a:solidFill>
              </a:defRPr>
            </a:pPr>
            <a:r>
              <a:t>Quality Score</a:t>
            </a:r>
          </a:p>
          <a:p>
            <a:pPr algn="ctr">
              <a:defRPr sz="2800" b="1">
                <a:solidFill>
                  <a:srgbClr val="28A745"/>
                </a:solidFill>
              </a:defRPr>
            </a:pPr>
            <a:r>
              <a:t>81.0%</a:t>
            </a:r>
          </a:p>
          <a:p>
            <a:pPr algn="ctr">
              <a:defRPr sz="1000">
                <a:solidFill>
                  <a:srgbClr val="212529"/>
                </a:solidFill>
              </a:defRPr>
            </a:pPr>
            <a:r>
              <a:t>Gate: Eligible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2743200" cy="1828800"/>
          </a:xfrm>
          <a:prstGeom prst="roundRect">
            <a:avLst/>
          </a:prstGeom>
          <a:solidFill>
            <a:srgbClr val="F8F9FA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645920"/>
            <a:ext cx="2743200" cy="1371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212529"/>
                </a:solidFill>
              </a:defRPr>
            </a:pPr>
            <a:r>
              <a:t>Projected Payment</a:t>
            </a:r>
          </a:p>
          <a:p>
            <a:pPr algn="ctr">
              <a:defRPr sz="2800" b="1">
                <a:solidFill>
                  <a:srgbClr val="3498DB"/>
                </a:solidFill>
              </a:defRPr>
            </a:pPr>
            <a:r>
              <a:t>$33,890,635</a:t>
            </a:r>
          </a:p>
          <a:p>
            <a:pPr algn="ctr">
              <a:defRPr sz="1000">
                <a:solidFill>
                  <a:srgbClr val="212529"/>
                </a:solidFill>
              </a:defRPr>
            </a:pPr>
            <a:r>
              <a:t>100% probability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1645920"/>
            <a:ext cx="2743200" cy="1828800"/>
          </a:xfrm>
          <a:prstGeom prst="roundRect">
            <a:avLst/>
          </a:prstGeom>
          <a:solidFill>
            <a:srgbClr val="F8F9FA"/>
          </a:solidFill>
          <a:ln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235440" y="1645920"/>
            <a:ext cx="2743200" cy="1371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0" y="192024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212529"/>
                </a:solidFill>
              </a:defRPr>
            </a:pPr>
            <a:r>
              <a:t>Members</a:t>
            </a:r>
          </a:p>
          <a:p>
            <a:pPr algn="ctr">
              <a:defRPr sz="2800" b="1">
                <a:solidFill>
                  <a:srgbClr val="2C3E50"/>
                </a:solidFill>
              </a:defRPr>
            </a:pPr>
            <a:r>
              <a:t>4,774</a:t>
            </a:r>
          </a:p>
          <a:p>
            <a:pPr algn="ctr">
              <a:defRPr sz="1000">
                <a:solidFill>
                  <a:srgbClr val="212529"/>
                </a:solidFill>
              </a:defRPr>
            </a:pPr>
            <a:r>
              <a:t>4,774 member-months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72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529"/>
                </a:solidFill>
              </a:defRPr>
            </a:pPr>
            <a:r>
              <a:t>Key Findings: 0 risks identified, 1 opportunities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Financial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828800"/>
            <a:ext cx="1828800" cy="36576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55778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4630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$72.0M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2011680"/>
            <a:ext cx="1828800" cy="34747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55778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Target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6459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$68.4M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5273859"/>
            <a:ext cx="1828800" cy="2125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55778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Actual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4908099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$4.2M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8288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/>
            </a:pPr>
            <a:r>
              <a:t>PMPM Metrics</a:t>
            </a:r>
          </a:p>
          <a:p>
            <a:pPr>
              <a:defRPr sz="1400"/>
            </a:pPr>
            <a:r>
              <a:t>Baseline PMPM: $1,257</a:t>
            </a:r>
          </a:p>
          <a:p>
            <a:pPr>
              <a:defRPr sz="1400"/>
            </a:pPr>
            <a:r>
              <a:t>Target PMPM: $1,194</a:t>
            </a:r>
          </a:p>
          <a:p>
            <a:pPr>
              <a:defRPr sz="1400"/>
            </a:pPr>
            <a:r>
              <a:t>Actual PMPM: $876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ER Visits/1000: 9</a:t>
            </a:r>
          </a:p>
          <a:p>
            <a:pPr>
              <a:defRPr sz="1400"/>
            </a:pPr>
            <a:r>
              <a:t>Admits/1000: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Quality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3657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28A745"/>
                </a:solidFill>
              </a:defRPr>
            </a:pPr>
            <a:r>
              <a:t>81.0%</a:t>
            </a:r>
          </a:p>
          <a:p>
            <a:pPr>
              <a:defRPr sz="1600"/>
            </a:pPr>
            <a:r>
              <a:t>Composite Score (Threshold: 80.0%)</a:t>
            </a:r>
          </a:p>
          <a:p>
            <a:pPr>
              <a:defRPr sz="1800" b="1"/>
            </a:pPr>
            <a:r>
              <a:t>Quality Gate: ELIGIBLE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5544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Preventive Care (1.0x)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1828800"/>
            <a:ext cx="5486400" cy="457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0" y="1828800"/>
            <a:ext cx="4585768" cy="4572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1828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83.6%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6517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Chronic Disease (2.0x)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2926080"/>
            <a:ext cx="5486400" cy="457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0" y="2926080"/>
            <a:ext cx="4173047" cy="4572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0" y="29260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76.1%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7490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Care Coordination (1.5x)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4023360"/>
            <a:ext cx="5486400" cy="457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0" y="4023360"/>
            <a:ext cx="4531437" cy="4572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0" y="4023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82.6%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48463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Patient Experience (1.0x)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5120640"/>
            <a:ext cx="5486400" cy="457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5120640"/>
            <a:ext cx="4724119" cy="4572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98480" y="51206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86.1%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Risk Stratification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3657600" cy="137160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32918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Low Risk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1,520 members (31.8%)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PMPM: $66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474720"/>
            <a:ext cx="3657600" cy="137160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32918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Medium Risk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2,241 members (46.9%)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PMPM: $74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120640"/>
            <a:ext cx="3657600" cy="137160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303520"/>
            <a:ext cx="32918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High Risk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1,013 members (21.2%)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PMPM: $66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828800"/>
            <a:ext cx="5486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Average Risk Score</a:t>
            </a:r>
          </a:p>
          <a:p>
            <a:pPr>
              <a:defRPr sz="4800" b="1">
                <a:solidFill>
                  <a:srgbClr val="2C3E50"/>
                </a:solidFill>
              </a:defRPr>
            </a:pPr>
            <a:r>
              <a:t>1.14</a:t>
            </a:r>
          </a:p>
          <a:p>
            <a:pPr>
              <a:defRPr sz="1400"/>
            </a:pPr>
            <a:r>
              <a:t>(1.0 = Medicare average)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Key Insights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5486400" cy="1828800"/>
          </a:xfrm>
          <a:prstGeom prst="roundRect">
            <a:avLst/>
          </a:prstGeom>
          <a:solidFill>
            <a:srgbClr val="F8F9FA"/>
          </a:solidFill>
          <a:ln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1828800"/>
            <a:ext cx="274320" cy="274320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Strong Savings Performance</a:t>
            </a:r>
          </a:p>
          <a:p>
            <a:pPr>
              <a:defRPr sz="1200"/>
            </a:pPr>
            <a:r>
              <a:t>Tracking 94.2% below baseline</a:t>
            </a:r>
          </a:p>
          <a:p>
            <a:pPr>
              <a:defRPr sz="1100" i="1"/>
            </a:pPr>
            <a:r>
              <a:t>Recommendation: Maintain current care management initiatives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Year-End Projections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Projected Year-End Results</a:t>
            </a:r>
          </a:p>
          <a:p>
            <a:pPr>
              <a:defRPr sz="1400"/>
            </a:pPr>
            <a:r>
              <a:t>Projected Savings: $67,781,270</a:t>
            </a:r>
          </a:p>
          <a:p>
            <a:pPr>
              <a:defRPr sz="1400"/>
            </a:pPr>
            <a:r>
              <a:t>Projected Shared Savings: $33,890,635</a:t>
            </a:r>
          </a:p>
          <a:p>
            <a:pPr>
              <a:defRPr sz="1400"/>
            </a:pPr>
            <a:r>
              <a:t>Probability of Achieving Target: 100%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Savings Range (95% CI):</a:t>
            </a:r>
          </a:p>
          <a:p>
            <a:pPr>
              <a:defRPr sz="1400"/>
            </a:pPr>
            <a:r>
              <a:t>  Lower: $53,669,270</a:t>
            </a:r>
          </a:p>
          <a:p>
            <a:pPr>
              <a:defRPr sz="1400"/>
            </a:pPr>
            <a:r>
              <a:t>  Upper: $81,893,270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64592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Recommended Actions</a:t>
            </a:r>
          </a:p>
          <a:p>
            <a:pPr>
              <a:defRPr sz="1400"/>
            </a:pPr>
            <a:r>
              <a:t>1. Continue current care management initiatives</a:t>
            </a:r>
          </a:p>
          <a:p>
            <a:pPr>
              <a:defRPr sz="1400"/>
            </a:pPr>
            <a:r>
              <a:t>2. Monitor high-risk member engagement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