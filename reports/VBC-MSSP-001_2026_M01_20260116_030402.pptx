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MSSP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498DB"/>
                </a:solidFill>
              </a:defRPr>
            </a:pPr>
            <a:r>
              <a:t>VBC-MSSP-001 | 2026 M01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Generated: January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7432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743200" cy="1371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t>Total Savings</a:t>
            </a:r>
          </a:p>
          <a:p>
            <a:pPr algn="ctr">
              <a:defRPr sz="2800" b="1">
                <a:solidFill>
                  <a:srgbClr val="28A745"/>
                </a:solidFill>
              </a:defRPr>
            </a:pPr>
            <a:r>
              <a:t>$66,886,534</a:t>
            </a:r>
          </a:p>
          <a:p>
            <a:pPr algn="ctr">
              <a:defRPr sz="1000">
                <a:solidFill>
                  <a:srgbClr val="212529"/>
                </a:solidFill>
              </a:defRPr>
            </a:pPr>
            <a:r>
              <a:t>92.9% below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645920"/>
            <a:ext cx="27432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83280" y="1645920"/>
            <a:ext cx="2743200" cy="1371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92024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t>Quality Score</a:t>
            </a:r>
          </a:p>
          <a:p>
            <a:pPr algn="ctr">
              <a:defRPr sz="2800" b="1">
                <a:solidFill>
                  <a:srgbClr val="28A745"/>
                </a:solidFill>
              </a:defRPr>
            </a:pPr>
            <a:r>
              <a:t>80.4%</a:t>
            </a:r>
          </a:p>
          <a:p>
            <a:pPr algn="ctr">
              <a:defRPr sz="1000">
                <a:solidFill>
                  <a:srgbClr val="212529"/>
                </a:solidFill>
              </a:defRPr>
            </a:pPr>
            <a:r>
              <a:t>Gate: Eligible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27432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2743200" cy="1371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t>Projected Payment</a:t>
            </a:r>
          </a:p>
          <a:p>
            <a:pPr algn="ctr">
              <a:defRPr sz="2800" b="1">
                <a:solidFill>
                  <a:srgbClr val="3498DB"/>
                </a:solidFill>
              </a:defRPr>
            </a:pPr>
            <a:r>
              <a:t>$33,421,961</a:t>
            </a:r>
          </a:p>
          <a:p>
            <a:pPr algn="ctr">
              <a:defRPr sz="1000">
                <a:solidFill>
                  <a:srgbClr val="212529"/>
                </a:solidFill>
              </a:defRPr>
            </a:pPr>
            <a:r>
              <a:t>100% probability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645920"/>
            <a:ext cx="27432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35440" y="1645920"/>
            <a:ext cx="2743200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92024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t>Members</a:t>
            </a:r>
          </a:p>
          <a:p>
            <a:pPr algn="ctr">
              <a:defRPr sz="2800" b="1">
                <a:solidFill>
                  <a:srgbClr val="2C3E50"/>
                </a:solidFill>
              </a:defRPr>
            </a:pPr>
            <a:r>
              <a:t>4,746</a:t>
            </a:r>
          </a:p>
          <a:p>
            <a:pPr algn="ctr">
              <a:defRPr sz="1000">
                <a:solidFill>
                  <a:srgbClr val="212529"/>
                </a:solidFill>
              </a:defRPr>
            </a:pPr>
            <a:r>
              <a:t>4,746 member-months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Key Findings: 0 risks identified, 1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Financial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828800"/>
            <a:ext cx="1828800" cy="36576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5577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$72.0M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011680"/>
            <a:ext cx="1828800" cy="3474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5577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45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$68.4M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5226635"/>
            <a:ext cx="1828800" cy="2597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5577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860875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$5.1M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/>
            </a:pPr>
            <a:r>
              <a:t>PMPM Metrics</a:t>
            </a:r>
          </a:p>
          <a:p>
            <a:pPr>
              <a:defRPr sz="1400"/>
            </a:pPr>
            <a:r>
              <a:t>Baseline PMPM: $1,264</a:t>
            </a:r>
          </a:p>
          <a:p>
            <a:pPr>
              <a:defRPr sz="1400"/>
            </a:pPr>
            <a:r>
              <a:t>Target PMPM: $1,201</a:t>
            </a:r>
          </a:p>
          <a:p>
            <a:pPr>
              <a:defRPr sz="1400"/>
            </a:pPr>
            <a:r>
              <a:t>Actual PMPM: $1,077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ER Visits/1000: 15</a:t>
            </a:r>
          </a:p>
          <a:p>
            <a:pPr>
              <a:defRPr sz="1400"/>
            </a:pPr>
            <a:r>
              <a:t>Admits/1000: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Quality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28A745"/>
                </a:solidFill>
              </a:defRPr>
            </a:pPr>
            <a:r>
              <a:t>80.4%</a:t>
            </a:r>
          </a:p>
          <a:p>
            <a:pPr>
              <a:defRPr sz="1600"/>
            </a:pPr>
            <a:r>
              <a:t>Composite Score (Threshold: 80.0%)</a:t>
            </a:r>
          </a:p>
          <a:p>
            <a:pPr>
              <a:defRPr sz="1800" b="1"/>
            </a:pPr>
            <a:r>
              <a:t>Quality Gate: ELIGIBLE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Preventive Care (1.0x)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54864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0" y="1828800"/>
            <a:ext cx="4489364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1828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81.8%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651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Chronic Disease (2.0x)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2926080"/>
            <a:ext cx="54864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0" y="2926080"/>
            <a:ext cx="4245559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29260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77.4%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749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Care Coordination (1.5x)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54864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4023360"/>
            <a:ext cx="4482388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0" y="4023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81.7%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846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Patient Experience (1.0x)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5120640"/>
            <a:ext cx="54864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5120640"/>
            <a:ext cx="4566550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0" y="51206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83.2%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Risk Stratification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3657600" cy="1371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3291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Low Risk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1,501 members (31.6%)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PMPM: $72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474720"/>
            <a:ext cx="3657600" cy="13716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3291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Medium Risk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2,228 members (46.9%)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PMPM: $88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120640"/>
            <a:ext cx="3657600" cy="137160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303520"/>
            <a:ext cx="3291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High Risk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1,017 members (21.4%)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PMPM: $96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8288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Average Risk Score</a:t>
            </a:r>
          </a:p>
          <a:p>
            <a:pPr>
              <a:defRPr sz="4800" b="1">
                <a:solidFill>
                  <a:srgbClr val="2C3E50"/>
                </a:solidFill>
              </a:defRPr>
            </a:pPr>
            <a:r>
              <a:t>1.14</a:t>
            </a:r>
          </a:p>
          <a:p>
            <a:pPr>
              <a:defRPr sz="1400"/>
            </a:pPr>
            <a:r>
              <a:t>(1.0 = Medicare average)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Key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54864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274320" cy="27432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Strong Savings Performance</a:t>
            </a:r>
          </a:p>
          <a:p>
            <a:pPr>
              <a:defRPr sz="1200"/>
            </a:pPr>
            <a:r>
              <a:t>Tracking 92.9% below baseline</a:t>
            </a:r>
          </a:p>
          <a:p>
            <a:pPr>
              <a:defRPr sz="1100" i="1"/>
            </a:pPr>
            <a:r>
              <a:t>Recommendation: Maintain current care management initiatives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Year-End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Projected Year-End Results</a:t>
            </a:r>
          </a:p>
          <a:p>
            <a:pPr>
              <a:defRPr sz="1400"/>
            </a:pPr>
            <a:r>
              <a:t>Projected Savings: $66,843,922</a:t>
            </a:r>
          </a:p>
          <a:p>
            <a:pPr>
              <a:defRPr sz="1400"/>
            </a:pPr>
            <a:r>
              <a:t>Projected Shared Savings: $33,421,961</a:t>
            </a:r>
          </a:p>
          <a:p>
            <a:pPr>
              <a:defRPr sz="1400"/>
            </a:pPr>
            <a:r>
              <a:t>Probability of Achieving Target: 100%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Savings Range (95% CI):</a:t>
            </a:r>
          </a:p>
          <a:p>
            <a:pPr>
              <a:defRPr sz="1400"/>
            </a:pPr>
            <a:r>
              <a:t>  Lower: $52,731,922</a:t>
            </a:r>
          </a:p>
          <a:p>
            <a:pPr>
              <a:defRPr sz="1400"/>
            </a:pPr>
            <a:r>
              <a:t>  Upper: $80,955,922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Recommended Actions</a:t>
            </a:r>
          </a:p>
          <a:p>
            <a:pPr>
              <a:defRPr sz="1400"/>
            </a:pPr>
            <a:r>
              <a:t>1. Continue current care management initiatives</a:t>
            </a:r>
          </a:p>
          <a:p>
            <a:pPr>
              <a:defRPr sz="1400"/>
            </a:pPr>
            <a:r>
              <a:t>2. Monitor high-risk member engagement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